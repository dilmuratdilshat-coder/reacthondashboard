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12">
  <p:sldMasterIdLst>
    <p:sldMasterId id="2147483808" r:id="rId1"/>
  </p:sldMasterIdLst>
  <p:notesMasterIdLst>
    <p:notesMasterId r:id="rId8"/>
  </p:notesMasterIdLst>
  <p:handoutMasterIdLst>
    <p:handoutMasterId r:id="rId9"/>
  </p:handoutMasterIdLst>
  <p:sldIdLst>
    <p:sldId id="256" r:id="rId2"/>
    <p:sldId id="522" r:id="rId3"/>
    <p:sldId id="524" r:id="rId4"/>
    <p:sldId id="525" r:id="rId5"/>
    <p:sldId id="531" r:id="rId6"/>
    <p:sldId id="521" r:id="rId7"/>
  </p:sldIdLst>
  <p:sldSz cx="9144000" cy="6858000" type="screen4x3"/>
  <p:notesSz cx="7102475" cy="102314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FCEF"/>
    <a:srgbClr val="F00000"/>
    <a:srgbClr val="E1ABD7"/>
    <a:srgbClr val="90C226"/>
    <a:srgbClr val="8D4E1E"/>
    <a:srgbClr val="990000"/>
    <a:srgbClr val="A50021"/>
    <a:srgbClr val="993300"/>
    <a:srgbClr val="40114F"/>
    <a:srgbClr val="FED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29" autoAdjust="0"/>
  </p:normalViewPr>
  <p:slideViewPr>
    <p:cSldViewPr>
      <p:cViewPr varScale="1">
        <p:scale>
          <a:sx n="81" d="100"/>
          <a:sy n="81" d="100"/>
        </p:scale>
        <p:origin x="3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024736" y="0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/>
          <a:lstStyle>
            <a:lvl1pPr algn="r">
              <a:defRPr sz="13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644" y="0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/>
          <a:lstStyle>
            <a:lvl1pPr algn="l">
              <a:defRPr sz="1300"/>
            </a:lvl1pPr>
          </a:lstStyle>
          <a:p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024736" y="9718091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 anchor="b"/>
          <a:lstStyle>
            <a:lvl1pPr algn="r">
              <a:defRPr sz="1300"/>
            </a:lvl1pPr>
          </a:lstStyle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644" y="9718091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 anchor="b"/>
          <a:lstStyle>
            <a:lvl1pPr algn="l">
              <a:defRPr sz="1300"/>
            </a:lvl1pPr>
          </a:lstStyle>
          <a:p>
            <a:fld id="{1BC6F805-48CF-4014-B12C-38127C89EBC7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50049117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024736" y="0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/>
          <a:lstStyle>
            <a:lvl1pPr algn="r">
              <a:defRPr sz="13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644" y="0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/>
          <a:lstStyle>
            <a:lvl1pPr algn="l">
              <a:defRPr sz="1300"/>
            </a:lvl1pPr>
          </a:lstStyle>
          <a:p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4925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8" tIns="49519" rIns="99038" bIns="49519" rtlCol="1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859933"/>
            <a:ext cx="5681980" cy="4604147"/>
          </a:xfrm>
          <a:prstGeom prst="rect">
            <a:avLst/>
          </a:prstGeom>
        </p:spPr>
        <p:txBody>
          <a:bodyPr vert="horz" lIns="99038" tIns="49519" rIns="99038" bIns="49519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024736" y="9718091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 anchor="b"/>
          <a:lstStyle>
            <a:lvl1pPr algn="r">
              <a:defRPr sz="13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644" y="9718091"/>
            <a:ext cx="3077739" cy="511572"/>
          </a:xfrm>
          <a:prstGeom prst="rect">
            <a:avLst/>
          </a:prstGeom>
        </p:spPr>
        <p:txBody>
          <a:bodyPr vert="horz" lIns="99038" tIns="49519" rIns="99038" bIns="49519" rtlCol="1" anchor="b"/>
          <a:lstStyle>
            <a:lvl1pPr algn="l">
              <a:defRPr sz="1300"/>
            </a:lvl1pPr>
          </a:lstStyle>
          <a:p>
            <a:fld id="{E21A32D9-6C98-4AFC-8B51-0299DD49C416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03153477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9918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3077-7C44-4972-95F7-78291255B404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4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B42B-82EC-48AB-9315-F9859A7FCD59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48600" y="0"/>
            <a:ext cx="1244600" cy="928370"/>
          </a:xfrm>
          <a:prstGeom prst="rect">
            <a:avLst/>
          </a:prstGeom>
          <a:noFill/>
        </p:spPr>
      </p:pic>
      <p:pic>
        <p:nvPicPr>
          <p:cNvPr id="8" name="Picture 7" descr="D:\KUSHA\Ak Kahour\Kusha.jpg"/>
          <p:cNvPicPr/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971550" cy="9283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653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27B1-9373-45C3-88C6-C41DE0124923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0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EA92-BB6C-42BF-9865-1DD2B9107474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7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E31D2-4282-4D4F-A230-65CDA71E577F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6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E6E2-F670-47CF-9ED1-FACC886DE611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3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26749-CFE7-45D1-B1D7-DC77A5F86F64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5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C2CA-7B8E-4C17-B86E-4C60C2B2AC59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8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EE2-E1DD-494E-A049-B21DE3789E96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7ECB0-B270-445C-B893-84DB60A3797F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17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387EF-1E06-4F5B-B3F8-9610B9EBC574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365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8F08-C195-47B6-A978-250D05E64184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17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F7CB-B8A4-4E5C-8AE3-C75392D5A6D0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738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9F84-9B8D-45C2-B30C-69D48A86990E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0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A059-FFC3-4A55-974A-1E21E73302D1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7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C5E5-0C28-4B5C-BCF4-C9F9DE441568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اکتشاف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8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6843F-EBCC-4FF8-9871-8EA957B58479}" type="datetime8">
              <a:rPr lang="fa-IR" smtClean="0"/>
              <a:pPr/>
              <a:t>19 ژانويه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a-IR"/>
              <a:t>اکتشاف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55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</p:sldLayoutIdLst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662" y="2357430"/>
            <a:ext cx="7344816" cy="2079682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ru-RU" sz="29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Хакатон</a:t>
            </a:r>
            <a:r>
              <a:rPr lang="ru-RU" sz="29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9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2026г</a:t>
            </a:r>
            <a:br>
              <a:rPr lang="ru-RU" sz="29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9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9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9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 И ВИЗУАЛИЗАЦИЯ ПРОИЗВОДСТВЕННЫХ ДАННЫХ</a:t>
            </a:r>
            <a:r>
              <a:rPr lang="fa-I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  <a:latin typeface="Times New Roman" pitchFamily="18" charset="0"/>
                <a:cs typeface="B Titr" pitchFamily="2" charset="-78"/>
              </a:rPr>
              <a:t/>
            </a:r>
            <a:br>
              <a:rPr lang="fa-I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  <a:latin typeface="Times New Roman" pitchFamily="18" charset="0"/>
                <a:cs typeface="B Titr" pitchFamily="2" charset="-78"/>
              </a:rPr>
            </a:br>
            <a:endParaRPr lang="en-US" sz="11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itchFamily="18" charset="0"/>
              <a:cs typeface="B Titr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63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028" y="491013"/>
            <a:ext cx="7143800" cy="958003"/>
          </a:xfrm>
        </p:spPr>
        <p:txBody>
          <a:bodyPr>
            <a:noAutofit/>
          </a:bodyPr>
          <a:lstStyle/>
          <a:p>
            <a:pPr algn="ctr"/>
            <a:r>
              <a:rPr lang="ru-RU" sz="2600" b="1" spc="50" dirty="0" smtClean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B Titr" pitchFamily="2" charset="-78"/>
              </a:rPr>
              <a:t>Ключевые термины и определения</a:t>
            </a:r>
            <a:endParaRPr lang="en-US" sz="2600" b="1" spc="50" dirty="0">
              <a:ln w="11430">
                <a:solidFill>
                  <a:schemeClr val="bg1"/>
                </a:solidFill>
              </a:ln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B Titr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484784"/>
            <a:ext cx="6768752" cy="4104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ru-RU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Производственная аналитика – анализ данных оборудования и процессов для поддержки управленческих решений.</a:t>
            </a:r>
          </a:p>
          <a:p>
            <a:pPr>
              <a:buFontTx/>
              <a:buChar char="-"/>
            </a:pPr>
            <a:r>
              <a:rPr lang="ru-RU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 – визуальная панель с ключевыми показателями (</a:t>
            </a:r>
            <a:r>
              <a:rPr lang="en-US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r>
              <a:rPr lang="ru-RU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в реальном или квазиреальном времени.</a:t>
            </a:r>
          </a:p>
          <a:p>
            <a:pPr>
              <a:buFontTx/>
              <a:buChar char="-"/>
            </a:pPr>
            <a:r>
              <a:rPr lang="en-US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HSE </a:t>
            </a:r>
            <a:r>
              <a:rPr lang="kk-KZ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охрана труда, промышленная и экологическая безопасность. </a:t>
            </a:r>
            <a:endParaRPr lang="ru-RU" sz="24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ru-RU" sz="24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177" y="764704"/>
            <a:ext cx="7143800" cy="720080"/>
          </a:xfrm>
        </p:spPr>
        <p:txBody>
          <a:bodyPr>
            <a:noAutofit/>
          </a:bodyPr>
          <a:lstStyle/>
          <a:p>
            <a:pPr algn="ctr"/>
            <a:r>
              <a:rPr lang="ru-RU" sz="2600" b="1" spc="50" dirty="0" smtClean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B Titr" pitchFamily="2" charset="-78"/>
              </a:rPr>
              <a:t>Цель аналитического дашборда</a:t>
            </a:r>
            <a:endParaRPr lang="en-US" sz="2600" b="1" spc="50" dirty="0">
              <a:ln w="11430">
                <a:solidFill>
                  <a:schemeClr val="bg1"/>
                </a:solidFill>
              </a:ln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B Titr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7544" y="1484784"/>
            <a:ext cx="7564215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ru-RU" sz="17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Дать инженеру или руководителю смены целостное понимание состояния производства для быстрого и обоснованного принятия решений.</a:t>
            </a:r>
          </a:p>
          <a:p>
            <a:pPr>
              <a:buFontTx/>
              <a:buChar char="-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Контекст: обогатительная 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фабрика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предназначено для обогатительной фабрики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Непрерывный технологический процесс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взаимосвязь технологических параметров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цена отклонений и простоев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Критичность оперативных решений в течение смены</a:t>
            </a:r>
          </a:p>
          <a:p>
            <a:pPr>
              <a:buFontTx/>
              <a:buChar char="-"/>
            </a:pP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ru-RU" sz="17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ru-RU" sz="24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ru-RU" sz="24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58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392" y="260648"/>
            <a:ext cx="7143800" cy="720080"/>
          </a:xfrm>
        </p:spPr>
        <p:txBody>
          <a:bodyPr>
            <a:noAutofit/>
          </a:bodyPr>
          <a:lstStyle/>
          <a:p>
            <a:pPr algn="ctr"/>
            <a:r>
              <a:rPr lang="ru-RU" sz="2600" b="1" spc="50" dirty="0" smtClean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B Titr" pitchFamily="2" charset="-78"/>
              </a:rPr>
              <a:t>Проблема</a:t>
            </a:r>
            <a:endParaRPr lang="en-US" sz="2600" b="1" spc="50" dirty="0">
              <a:ln w="11430">
                <a:solidFill>
                  <a:schemeClr val="bg1"/>
                </a:solidFill>
              </a:ln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B Titr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4347" y="836712"/>
            <a:ext cx="8029726" cy="554461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3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Современная </a:t>
            </a:r>
            <a:r>
              <a:rPr lang="ru-RU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обогатительная фабрика генерирует большой объём производственных </a:t>
            </a:r>
            <a:r>
              <a:rPr lang="ru-RU" sz="3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(энергопотребление</a:t>
            </a:r>
            <a:r>
              <a:rPr lang="ru-RU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простои оборудования, производительность, аварийные события, показатели HSE).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3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</a:t>
            </a:r>
            <a:r>
              <a:rPr lang="ru-RU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данные используются неэффективно и не поддерживают оперативное принятие решений</a:t>
            </a:r>
            <a:r>
              <a:rPr lang="ru-RU" sz="3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проблемы:</a:t>
            </a:r>
          </a:p>
          <a:p>
            <a:pPr marL="0" indent="0">
              <a:buNone/>
            </a:pP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наглядной 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представлены в виде таблиц или отчётов;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 быстро понять, где возникла проблема и насколько она критична.</a:t>
            </a:r>
          </a:p>
          <a:p>
            <a:pPr marL="0" indent="0">
              <a:buNone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Запаздывание управленческих 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 или руководитель смены тратит время на поиск и интерпретацию информации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принимаются с опозданием или интуитивно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фокуса на 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приоритетах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показатели выглядят одинаково важными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сигналы, что именно требует внимания прямо сейчас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Слабая связь данных с безопасностью 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труда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HSE не интегрированы в общую картину производства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для персонала выявляются поздно.</a:t>
            </a:r>
            <a:endParaRPr lang="ru-RU" sz="3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28717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6624736" cy="720080"/>
          </a:xfrm>
        </p:spPr>
        <p:txBody>
          <a:bodyPr>
            <a:noAutofit/>
          </a:bodyPr>
          <a:lstStyle/>
          <a:p>
            <a:pPr algn="ctr"/>
            <a:r>
              <a:rPr lang="ru-RU" sz="2600" b="1" spc="50" dirty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B Titr" pitchFamily="2" charset="-78"/>
              </a:rPr>
              <a:t>Исходные данные и показатели </a:t>
            </a:r>
            <a:r>
              <a:rPr lang="ru-RU" sz="2600" b="1" spc="50" dirty="0" smtClean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B Titr" pitchFamily="2" charset="-78"/>
              </a:rPr>
              <a:t>дашборда</a:t>
            </a:r>
            <a:endParaRPr lang="en-US" sz="2600" b="1" spc="50" dirty="0">
              <a:ln w="11430">
                <a:solidFill>
                  <a:schemeClr val="bg1"/>
                </a:solidFill>
              </a:ln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B Titr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77315" y="1512751"/>
            <a:ext cx="6120680" cy="2276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Источники: АСУ ТП,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HSE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Производительность, т/ч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полезного компонента, %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Расход реагентов, кг/т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Простои и загрузка оборудования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259632" y="3589966"/>
            <a:ext cx="543418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>
              <a:spcBef>
                <a:spcPct val="0"/>
              </a:spcBef>
            </a:pPr>
            <a:r>
              <a:rPr lang="en-US" sz="2600" b="1" spc="50" dirty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B Titr" pitchFamily="2" charset="-78"/>
              </a:rPr>
              <a:t>KPI </a:t>
            </a:r>
            <a:r>
              <a:rPr lang="ru-RU" sz="2600" b="1" spc="50" dirty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B Titr" pitchFamily="2" charset="-78"/>
              </a:rPr>
              <a:t>и ориентиры эффективности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84065" y="4221088"/>
            <a:ext cx="6113929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плана по производительности</a:t>
            </a: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</a:t>
            </a:r>
            <a:r>
              <a:rPr lang="ru-RU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перерасхода реагентов</a:t>
            </a: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простоев</a:t>
            </a: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инцидентов HSE</a:t>
            </a:r>
          </a:p>
        </p:txBody>
      </p:sp>
    </p:spTree>
    <p:extLst>
      <p:ext uri="{BB962C8B-B14F-4D97-AF65-F5344CB8AC3E}">
        <p14:creationId xmlns:p14="http://schemas.microsoft.com/office/powerpoint/2010/main" val="32515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47" y="345450"/>
            <a:ext cx="7143800" cy="720080"/>
          </a:xfrm>
        </p:spPr>
        <p:txBody>
          <a:bodyPr>
            <a:noAutofit/>
          </a:bodyPr>
          <a:lstStyle/>
          <a:p>
            <a:pPr algn="ctr"/>
            <a:r>
              <a:rPr lang="ru-RU" sz="2600" b="1" spc="50" dirty="0" smtClean="0">
                <a:ln w="11430">
                  <a:solidFill>
                    <a:schemeClr val="bg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B Titr" pitchFamily="2" charset="-78"/>
              </a:rPr>
              <a:t>Задача</a:t>
            </a:r>
            <a:endParaRPr lang="en-US" sz="2600" b="1" spc="50" dirty="0">
              <a:ln w="11430">
                <a:solidFill>
                  <a:schemeClr val="bg1"/>
                </a:solidFill>
              </a:ln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B Titr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11560" y="1052736"/>
            <a:ext cx="7344816" cy="5112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аналитический дашборд, который объединяет все ключевые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одном экране для инженера или руководителя смены.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решению задачи:</a:t>
            </a:r>
          </a:p>
          <a:p>
            <a:pPr marL="457200" indent="-457200">
              <a:buFont typeface="Wingdings 3" charset="2"/>
              <a:buAutoNum type="arabicPeriod"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одном экране;</a:t>
            </a:r>
          </a:p>
          <a:p>
            <a:pPr marL="457200" indent="-457200">
              <a:buAutoNum type="arabicPeriod"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Наглядная визуализация (графики, индикаторы);</a:t>
            </a:r>
          </a:p>
          <a:p>
            <a:pPr marL="457200" indent="-457200">
              <a:buAutoNum type="arabicPeriod"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приоритетов и сигналов</a:t>
            </a:r>
          </a:p>
          <a:p>
            <a:pPr marL="457200" indent="-457200">
              <a:buAutoNum type="arabicPeriod"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Ориентация на пользователя 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UX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Приоритизация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устранения 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простоев</a:t>
            </a:r>
          </a:p>
          <a:p>
            <a:pPr marL="457200" indent="-457200">
              <a:buAutoNum type="arabicPeriod"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Реакция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отклонения технологических 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параметров</a:t>
            </a:r>
          </a:p>
          <a:p>
            <a:pPr marL="457200" indent="-457200">
              <a:buAutoNum type="arabicPeriod"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Предотвращение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рисков HSE</a:t>
            </a:r>
          </a:p>
          <a:p>
            <a:pPr marL="457200" indent="-457200">
              <a:buAutoNum type="arabicPeriod"/>
            </a:pPr>
            <a:endParaRPr 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 понять состояние производства;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плановыми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значениями;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Пороговые значения и цветовая индикация;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Увидеть отклонения и риски;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Принять решение за минуты, а не часы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02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11146</TotalTime>
  <Words>351</Words>
  <Application>Microsoft Office PowerPoint</Application>
  <PresentationFormat>Экран (4:3)</PresentationFormat>
  <Paragraphs>62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Arial</vt:lpstr>
      <vt:lpstr>B Titr</vt:lpstr>
      <vt:lpstr>Calibri</vt:lpstr>
      <vt:lpstr>Tahoma</vt:lpstr>
      <vt:lpstr>Times New Roman</vt:lpstr>
      <vt:lpstr>Trebuchet MS</vt:lpstr>
      <vt:lpstr>Wingdings 3</vt:lpstr>
      <vt:lpstr>Facet</vt:lpstr>
      <vt:lpstr>Хакатон 2026г  АНАЛИТИКА И ВИЗУАЛИЗАЦИЯ ПРОИЗВОДСТВЕННЫХ ДАННЫХ </vt:lpstr>
      <vt:lpstr>Ключевые термины и определения</vt:lpstr>
      <vt:lpstr>Цель аналитического дашборда</vt:lpstr>
      <vt:lpstr>Проблема</vt:lpstr>
      <vt:lpstr>Исходные данные и показатели дашборда</vt:lpstr>
      <vt:lpstr>Задача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Mineral Resources Evaluation of Ak Kahour  Iron Mine</dc:title>
  <dc:creator>Mahdi Ahadi</dc:creator>
  <cp:lastModifiedBy>User</cp:lastModifiedBy>
  <cp:revision>1529</cp:revision>
  <cp:lastPrinted>2016-01-29T18:40:20Z</cp:lastPrinted>
  <dcterms:created xsi:type="dcterms:W3CDTF">2006-08-16T00:00:00Z</dcterms:created>
  <dcterms:modified xsi:type="dcterms:W3CDTF">2026-01-19T10:01:11Z</dcterms:modified>
</cp:coreProperties>
</file>